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elvetica"/>
              </a:rPr>
              <a:t>ADW — Architecture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4E0"/>
                </a:solidFill>
                <a:latin typeface="Helvetica"/>
              </a:rPr>
              <a:t>16 functional subsystems · as-is · dependency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AA8B8"/>
                </a:solidFill>
                <a:latin typeface="Helvetica"/>
              </a:rPr>
              <a:t>Each subsystem plotted against the pipeline and its interaction neighborhood. Ground truth: source code. Companion: rewrite/*.md specs + suggestions.txt.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14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Helvetica"/>
              </a:rPr>
              <a:t>Master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5DEEA"/>
                </a:solidFill>
                <a:latin typeface="Helvetica"/>
              </a:rPr>
              <a:t>All 16 subsystems, grouped into six dependency layers. Arrows: “calls / depends on”.</a:t>
            </a:r>
          </a:p>
        </p:txBody>
      </p:sp>
      <p:pic>
        <p:nvPicPr>
          <p:cNvPr id="5" name="Picture 4" descr="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457" y="1188720"/>
            <a:ext cx="10292605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Helvetica"/>
              </a:rPr>
              <a:t>Read bottom-up: substrate (L0) → I/O authorities (L1) → composition (L2) → pipeline &amp; content (L3) → coordination &amp; governance (L4) → entry points (L5).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14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Helvetica"/>
              </a:rPr>
              <a:t>Dependency Layers — Build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5DEEA"/>
                </a:solidFill>
                <a:latin typeface="Helvetica"/>
              </a:rPr>
              <a:t>The order to (re)implement: each layer depends only on the ones beneath it.</a:t>
            </a:r>
          </a:p>
        </p:txBody>
      </p:sp>
      <p:pic>
        <p:nvPicPr>
          <p:cNvPr id="5" name="Picture 4" descr="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398" y="1188720"/>
            <a:ext cx="6488723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Helvetica"/>
              </a:rPr>
              <a:t>This ordering also indexes the rewrite/NN-*.md specs. Lower layers are model-agnostic substrate; the model coupling concentrates in 4 (Agent execution) and 13 (Cost).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14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Helvetica"/>
              </a:rPr>
              <a:t>Data Flow — One Issue's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5DEEA"/>
                </a:solidFill>
                <a:latin typeface="Helvetica"/>
              </a:rPr>
              <a:t>A single GitHub issue traversing the pipeline, with cross-cutting subsystems feeding every step.</a:t>
            </a:r>
          </a:p>
        </p:txBody>
      </p:sp>
      <p:pic>
        <p:nvPicPr>
          <p:cNvPr id="5" name="Picture 4" descr="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500062"/>
            <a:ext cx="11430000" cy="3150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Helvetica"/>
              </a:rPr>
              <a:t>Linear happy path. Coordination (9), upgrade (12), and auto-merge (11) gate the flow; cross-cutting subsystems (rail) are invoked throughout.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"/>
              </a:rPr>
              <a:t>1. Config &amp;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0E6EE"/>
                </a:solidFill>
                <a:latin typeface="Helvetica"/>
              </a:rPr>
              <a:t>Layer 0 — Substrate</a:t>
            </a:r>
          </a:p>
        </p:txBody>
      </p:sp>
      <p:pic>
        <p:nvPicPr>
          <p:cNvPr id="5" name="Picture 4" descr="detai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33" y="1188720"/>
            <a:ext cx="7051813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63840" y="1234440"/>
            <a:ext cx="4069080" cy="4937760"/>
          </a:xfrm>
          <a:prstGeom prst="rect">
            <a:avLst/>
          </a:prstGeom>
          <a:solidFill>
            <a:srgbClr val="F4F4F6"/>
          </a:solidFill>
          <a:ln>
            <a:solidFill>
              <a:srgbClr val="DD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371600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14D8A"/>
                </a:solidFill>
                <a:latin typeface="Helvetica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691640"/>
            <a:ext cx="37033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A"/>
                </a:solidFill>
                <a:latin typeface="Helvetica"/>
              </a:rPr>
              <a:t>Static-config substrate: env-var accessors &amp; secrets, runtime tuning constants, per-command model/effort routing maps, and per-target-repo .adw/ markdown config parsed into a typed ProjectConfig. Performs no orchestration. The single source every other subsystem reads.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343400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A2A2A"/>
                </a:solidFill>
                <a:latin typeface="Helvetica"/>
              </a:rPr>
              <a:t>AS-IS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663440"/>
            <a:ext cx="3703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670"/>
                </a:solidFill>
                <a:latin typeface="Helvetica"/>
              </a:rPr>
              <a:t>loadProjectConfig re-parses all .adw/ files on every call (no caching).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Helvetica"/>
              </a:rPr>
              <a:t>Solid red → this subsystem calls out · Dashed teal → called by · spec: rewrite/01-*.md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"/>
              </a:rPr>
              <a:t>2. State &amp; ADW 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0E6EE"/>
                </a:solidFill>
                <a:latin typeface="Helvetica"/>
              </a:rPr>
              <a:t>Layer 0 — Substrate</a:t>
            </a:r>
          </a:p>
        </p:txBody>
      </p:sp>
      <p:pic>
        <p:nvPicPr>
          <p:cNvPr id="5" name="Picture 4" descr="detail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143" y="1188720"/>
            <a:ext cx="5882994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63840" y="1234440"/>
            <a:ext cx="4069080" cy="4937760"/>
          </a:xfrm>
          <a:prstGeom prst="rect">
            <a:avLst/>
          </a:prstGeom>
          <a:solidFill>
            <a:srgbClr val="F4F4F6"/>
          </a:solidFill>
          <a:ln>
            <a:solidFill>
              <a:srgbClr val="DD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371600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14D8A"/>
                </a:solidFill>
                <a:latin typeface="Helvetica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691640"/>
            <a:ext cx="37033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A"/>
                </a:solidFill>
                <a:latin typeface="Helvetica"/>
              </a:rPr>
              <a:t>Persistence substrate: mints the per-run adwId, owns the agents/{adwId}/ layout, and provides merge-aware read/write of the top-level state file (pid, pidStartedAt, lastSeenAt, workflowStage) and per-agent state. Enables phase chaining, resume, and out-of-band liveness queries.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343400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A2A2A"/>
                </a:solidFill>
                <a:latin typeface="Helvetica"/>
              </a:rPr>
              <a:t>AS-IS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663440"/>
            <a:ext cx="3703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670"/>
                </a:solidFill>
                <a:latin typeface="Helvetica"/>
              </a:rPr>
              <a:t>generateAdwId uses Math.random() (non-crypto); per-agent writes are non-atomic.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Helvetica"/>
              </a:rPr>
              <a:t>Solid red → this subsystem calls out · Dashed teal → called by · spec: rewrite/02-*.md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"/>
              </a:rPr>
              <a:t>3. GitContext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0E6EE"/>
                </a:solidFill>
                <a:latin typeface="Helvetica"/>
              </a:rPr>
              <a:t>Layer 1 — I/O authorities</a:t>
            </a:r>
          </a:p>
        </p:txBody>
      </p:sp>
      <p:pic>
        <p:nvPicPr>
          <p:cNvPr id="5" name="Picture 4" descr="detail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9867"/>
            <a:ext cx="7406640" cy="442690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63840" y="1234440"/>
            <a:ext cx="4069080" cy="4937760"/>
          </a:xfrm>
          <a:prstGeom prst="rect">
            <a:avLst/>
          </a:prstGeom>
          <a:solidFill>
            <a:srgbClr val="F4F4F6"/>
          </a:solidFill>
          <a:ln>
            <a:solidFill>
              <a:srgbClr val="DD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371600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14D8A"/>
                </a:solidFill>
                <a:latin typeface="Helvetica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691640"/>
            <a:ext cx="37033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A"/>
                </a:solidFill>
                <a:latin typeface="Helvetica"/>
              </a:rPr>
              <a:t>Deep-module authority for ALL git and gh I/O. Constructed once per launch from a mandatory identity, resolves its base path in the constructor (self-host vs target), and injects auth per spawned command through one private #run() chokepoint — never mutating process.env. Eliminated the wrong-repo / token-bleed bug class.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343400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A2A2A"/>
                </a:solidFill>
                <a:latin typeface="Helvetica"/>
              </a:rPr>
              <a:t>AS-IS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663440"/>
            <a:ext cx="3703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670"/>
                </a:solidFill>
                <a:latin typeface="Helvetica"/>
              </a:rPr>
              <a:t>Two parallel boundary builders (launchGitContext + gitContextFactory); guard still allowlists ~25 residual direct git/gh sites.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Helvetica"/>
              </a:rPr>
              <a:t>Solid red → this subsystem calls out · Dashed teal → called by · spec: rewrite/03-*.md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"/>
              </a:rPr>
              <a:t>4. Agent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0E6EE"/>
                </a:solidFill>
                <a:latin typeface="Helvetica"/>
              </a:rPr>
              <a:t>Layer 1 — I/O authorities</a:t>
            </a:r>
          </a:p>
        </p:txBody>
      </p:sp>
      <p:pic>
        <p:nvPicPr>
          <p:cNvPr id="5" name="Picture 4" descr="detail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1268"/>
            <a:ext cx="7406640" cy="41241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63840" y="1234440"/>
            <a:ext cx="4069080" cy="4937760"/>
          </a:xfrm>
          <a:prstGeom prst="rect">
            <a:avLst/>
          </a:prstGeom>
          <a:solidFill>
            <a:srgbClr val="F4F4F6"/>
          </a:solidFill>
          <a:ln>
            <a:solidFill>
              <a:srgbClr val="DD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371600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14D8A"/>
                </a:solidFill>
                <a:latin typeface="Helvetica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691640"/>
            <a:ext cx="37033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A"/>
                </a:solidFill>
                <a:latin typeface="Helvetica"/>
              </a:rPr>
              <a:t>The single seam to the model. Spawns the `claude` CLI as a detached child, drives it with a slash command, parses streamed JSONL (assistant text, tool calls, result, errors), enforces watchdog/kill/retry policy, returns a typed AgentResult. THE model-coupling core.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343400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A2A2A"/>
                </a:solidFill>
                <a:latin typeface="Helvetica"/>
              </a:rPr>
              <a:t>AS-IS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663440"/>
            <a:ext cx="3703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670"/>
                </a:solidFill>
                <a:latin typeface="Helvetica"/>
              </a:rPr>
              <a:t>CLI flags, JSONL field names, and error heuristics are scattered across 4 files — the coupling is not isolated behind one adapter.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Helvetica"/>
              </a:rPr>
              <a:t>Solid red → this subsystem calls out · Dashed teal → called by · spec: rewrite/04-*.md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A4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"/>
              </a:rPr>
              <a:t>6. Provider abstraction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0E6EE"/>
                </a:solidFill>
                <a:latin typeface="Helvetica"/>
              </a:rPr>
              <a:t>Layer 2 — Composition &amp; providers</a:t>
            </a:r>
          </a:p>
        </p:txBody>
      </p:sp>
      <p:pic>
        <p:nvPicPr>
          <p:cNvPr id="5" name="Picture 4" descr="detail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891542"/>
            <a:ext cx="7406640" cy="16235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63840" y="1234440"/>
            <a:ext cx="4069080" cy="4937760"/>
          </a:xfrm>
          <a:prstGeom prst="rect">
            <a:avLst/>
          </a:prstGeom>
          <a:solidFill>
            <a:srgbClr val="F4F4F6"/>
          </a:solidFill>
          <a:ln>
            <a:solidFill>
              <a:srgbClr val="DD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371600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14D8A"/>
                </a:solidFill>
                <a:latin typeface="Helvetica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691640"/>
            <a:ext cx="37033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A"/>
                </a:solidFill>
                <a:latin typeface="Helvetica"/>
              </a:rPr>
              <a:t>Portability seam: IssueTracker / CodeHost / BoardManager interfaces bundled into a validated RepoContext, with GitHub / GitLab / Jira impls over a thin GitHub API wrapper layer. Lets pipeline phases do issue/PR/board ops without binding to one platform.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343400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A2A2A"/>
                </a:solidFill>
                <a:latin typeface="Helvetica"/>
              </a:rPr>
              <a:t>AS-IS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663440"/>
            <a:ext cx="3703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670"/>
                </a:solidFill>
                <a:latin typeface="Helvetica"/>
              </a:rPr>
              <a:t>Sync interface signatures force Jira into fire-and-forget placeholders; Bitbucket defined but unimplemented.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Helvetica"/>
              </a:rPr>
              <a:t>Solid red → this subsystem calls out · Dashed teal → called by · spec: rewrite/06-*.md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A4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"/>
              </a:rPr>
              <a:t>5. Phase runner &amp; cost-track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0E6EE"/>
                </a:solidFill>
                <a:latin typeface="Helvetica"/>
              </a:rPr>
              <a:t>Layer 2 — Composition &amp; providers</a:t>
            </a:r>
          </a:p>
        </p:txBody>
      </p:sp>
      <p:pic>
        <p:nvPicPr>
          <p:cNvPr id="5" name="Picture 4" descr="detail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28519"/>
            <a:ext cx="7406640" cy="214960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63840" y="1234440"/>
            <a:ext cx="4069080" cy="4937760"/>
          </a:xfrm>
          <a:prstGeom prst="rect">
            <a:avLst/>
          </a:prstGeom>
          <a:solidFill>
            <a:srgbClr val="F4F4F6"/>
          </a:solidFill>
          <a:ln>
            <a:solidFill>
              <a:srgbClr val="DD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371600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14D8A"/>
                </a:solidFill>
                <a:latin typeface="Helvetica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691640"/>
            <a:ext cx="37033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A"/>
                </a:solidFill>
                <a:latin typeface="Helvetica"/>
              </a:rPr>
              <a:t>Composition glue around each phase: CostTracker + runPhase accumulate/persist/commit per-phase cost, route slash commands to model tier + effort, apply per-phase watchdog timeouts, and run a generic retry-with-resolution loop. Owns the cost-capture seam; not the cost math (13).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343400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A2A2A"/>
                </a:solidFill>
                <a:latin typeface="Helvetica"/>
              </a:rPr>
              <a:t>AS-IS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663440"/>
            <a:ext cx="3703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670"/>
                </a:solidFill>
                <a:latin typeface="Helvetica"/>
              </a:rPr>
              <a:t>CostTracker.commit fires postCostRecordsToD1 without awaiting; runPhasesParallel skips per-phase status writes.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Helvetica"/>
              </a:rPr>
              <a:t>Solid red → this subsystem calls out · Dashed teal → called by · spec: rewrite/05-*.md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A4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"/>
              </a:rPr>
              <a:t>13. Cost telemetry &amp; D1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0E6EE"/>
                </a:solidFill>
                <a:latin typeface="Helvetica"/>
              </a:rPr>
              <a:t>Layer 2 — Composition &amp; providers</a:t>
            </a:r>
          </a:p>
        </p:txBody>
      </p:sp>
      <p:pic>
        <p:nvPicPr>
          <p:cNvPr id="5" name="Picture 4" descr="detail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168496"/>
            <a:ext cx="7406640" cy="10696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63840" y="1234440"/>
            <a:ext cx="4069080" cy="4937760"/>
          </a:xfrm>
          <a:prstGeom prst="rect">
            <a:avLst/>
          </a:prstGeom>
          <a:solidFill>
            <a:srgbClr val="F4F4F6"/>
          </a:solidFill>
          <a:ln>
            <a:solidFill>
              <a:srgbClr val="DD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371600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14D8A"/>
                </a:solidFill>
                <a:latin typeface="Helvetica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691640"/>
            <a:ext cx="37033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A"/>
                </a:solidFill>
                <a:latin typeface="Helvetica"/>
              </a:rPr>
              <a:t>Cost engine: extract Anthropic token usage from Claude JSONL, price against per-model tables, detect divergence vs CLI-reported cost, render multi-currency comment tables, and dual-write PhaseCostRecord rows to a Cloudflare D1-backed Cost API Worker.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343400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A2A2A"/>
                </a:solidFill>
                <a:latin typeface="Helvetica"/>
              </a:rPr>
              <a:t>AS-IS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663440"/>
            <a:ext cx="3703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670"/>
                </a:solidFill>
                <a:latin typeface="Helvetica"/>
              </a:rPr>
              <a:t>Local computed cost is NOT independent — CLI cost copied into both fields, so divergence detection is inert; pricing tables hardcoded.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Helvetica"/>
              </a:rPr>
              <a:t>Solid red → this subsystem calls out · Dashed teal → called by · spec: rewrite/13-*.md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5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"/>
              </a:rPr>
              <a:t>7. Phases &amp; orchestrators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0E6EE"/>
                </a:solidFill>
                <a:latin typeface="Helvetica"/>
              </a:rPr>
              <a:t>Layer 3 — Pipeline &amp; content</a:t>
            </a:r>
          </a:p>
        </p:txBody>
      </p:sp>
      <p:pic>
        <p:nvPicPr>
          <p:cNvPr id="5" name="Picture 4" descr="detail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32" y="1188720"/>
            <a:ext cx="7396415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63840" y="1234440"/>
            <a:ext cx="4069080" cy="4937760"/>
          </a:xfrm>
          <a:prstGeom prst="rect">
            <a:avLst/>
          </a:prstGeom>
          <a:solidFill>
            <a:srgbClr val="F4F4F6"/>
          </a:solidFill>
          <a:ln>
            <a:solidFill>
              <a:srgbClr val="DD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371600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14D8A"/>
                </a:solidFill>
                <a:latin typeface="Helvetica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691640"/>
            <a:ext cx="37033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A"/>
                </a:solidFill>
                <a:latin typeface="Helvetica"/>
              </a:rPr>
              <a:t>The linear SDLC pipeline: classify issue -&gt; route to orchestrator -&gt; compose plan/build/test/review/document/PR phases, each wrapping Claude agents plus git/state side-effects. The root adw*.tsx entry scripts live 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343400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A2A2A"/>
                </a:solidFill>
                <a:latin typeface="Helvetica"/>
              </a:rPr>
              <a:t>AS-IS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663440"/>
            <a:ext cx="3703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670"/>
                </a:solidFill>
                <a:latin typeface="Helvetica"/>
              </a:rPr>
              <a:t>review-&gt;patch-&gt;retest loop copy-pasted across 5 orchestrators; classification parses free-form LLM text with a /feature default-on-failure.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Helvetica"/>
              </a:rPr>
              <a:t>Solid red → this subsystem calls out · Dashed teal → called by · spec: rewrite/07-*.md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5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"/>
              </a:rPr>
              <a:t>8. BDD / scenario subsystem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0E6EE"/>
                </a:solidFill>
                <a:latin typeface="Helvetica"/>
              </a:rPr>
              <a:t>Layer 3 — Pipeline &amp; content</a:t>
            </a:r>
          </a:p>
        </p:txBody>
      </p:sp>
      <p:pic>
        <p:nvPicPr>
          <p:cNvPr id="5" name="Picture 4" descr="detail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579633"/>
            <a:ext cx="7406640" cy="224737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63840" y="1234440"/>
            <a:ext cx="4069080" cy="4937760"/>
          </a:xfrm>
          <a:prstGeom prst="rect">
            <a:avLst/>
          </a:prstGeom>
          <a:solidFill>
            <a:srgbClr val="F4F4F6"/>
          </a:solidFill>
          <a:ln>
            <a:solidFill>
              <a:srgbClr val="DD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371600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14D8A"/>
                </a:solidFill>
                <a:latin typeface="Helvetica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691640"/>
            <a:ext cx="37033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A"/>
                </a:solidFill>
                <a:latin typeface="Helvetica"/>
              </a:rPr>
              <a:t>BDD-driven validation: generate per-issue Gherkin + step defs, reconcile plan vs scenarios, run tag-filtered suites as subprocesses, loop resolve+retest under Gherkin-freeze + fidelity governance, publish PR proof, and sweep scenarios for regression promotion. The plan/implementation contract.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343400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A2A2A"/>
                </a:solidFill>
                <a:latin typeface="Helvetica"/>
              </a:rPr>
              <a:t>AS-IS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663440"/>
            <a:ext cx="3703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670"/>
                </a:solidFill>
                <a:latin typeface="Helvetica"/>
              </a:rPr>
              <a:t>Two parallel plan&lt;-&gt;scenario reconcilers (validation-loop vs alignment); step-def generation split between a phase and the TDD loop.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Helvetica"/>
              </a:rPr>
              <a:t>Solid red → this subsystem calls out · Dashed teal → called by · spec: rewrite/08-*.md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5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"/>
              </a:rPr>
              <a:t>14. Docs &amp; living-docs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0E6EE"/>
                </a:solidFill>
                <a:latin typeface="Helvetica"/>
              </a:rPr>
              <a:t>Layer 3 — Pipeline &amp; content</a:t>
            </a:r>
          </a:p>
        </p:txBody>
      </p:sp>
      <p:pic>
        <p:nvPicPr>
          <p:cNvPr id="5" name="Picture 4" descr="detail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103735"/>
            <a:ext cx="7406640" cy="11991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63840" y="1234440"/>
            <a:ext cx="4069080" cy="4937760"/>
          </a:xfrm>
          <a:prstGeom prst="rect">
            <a:avLst/>
          </a:prstGeom>
          <a:solidFill>
            <a:srgbClr val="F4F4F6"/>
          </a:solidFill>
          <a:ln>
            <a:solidFill>
              <a:srgbClr val="DD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371600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14D8A"/>
                </a:solidFill>
                <a:latin typeface="Helvetica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691640"/>
            <a:ext cx="37033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A"/>
                </a:solidFill>
                <a:latin typeface="Helvetica"/>
              </a:rPr>
              <a:t>Living docs: the /document skill routes a change to its owning module doc and rewrites it in place, converging .adw/conditional_docs.md toward one entry per module. Deterministic guards flag doc bloat (files issues) and ownership regrowth as a post-write self-check.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343400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A2A2A"/>
                </a:solidFill>
                <a:latin typeface="Helvetica"/>
              </a:rPr>
              <a:t>AS-IS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663440"/>
            <a:ext cx="3703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670"/>
                </a:solidFill>
                <a:latin typeface="Helvetica"/>
              </a:rPr>
              <a:t>One-off migration incomplete: live index has 221 entries vs the ~40 target / 60 gate — the flat-prime-cost goal is unmet.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Helvetica"/>
              </a:rPr>
              <a:t>Solid red → this subsystem calls out · Dashed teal → called by · spec: rewrite/14-*.md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5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"/>
              </a:rPr>
              <a:t>15.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0E6EE"/>
                </a:solidFill>
                <a:latin typeface="Helvetica"/>
              </a:rPr>
              <a:t>Layer 3 — Pipeline &amp; content</a:t>
            </a:r>
          </a:p>
        </p:txBody>
      </p:sp>
      <p:pic>
        <p:nvPicPr>
          <p:cNvPr id="5" name="Picture 4" descr="detail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803024"/>
            <a:ext cx="7406640" cy="18005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63840" y="1234440"/>
            <a:ext cx="4069080" cy="4937760"/>
          </a:xfrm>
          <a:prstGeom prst="rect">
            <a:avLst/>
          </a:prstGeom>
          <a:solidFill>
            <a:srgbClr val="F4F4F6"/>
          </a:solidFill>
          <a:ln>
            <a:solidFill>
              <a:srgbClr val="DD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371600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14D8A"/>
                </a:solidFill>
                <a:latin typeface="Helvetica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691640"/>
            <a:ext cx="37033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A"/>
                </a:solidFill>
                <a:latin typeface="Helvetica"/>
              </a:rPr>
              <a:t>Review-screenshot pipeline: harvest BDD scenario screenshot artifacts, upload to per-repo Cloudflare R2 buckets, embed public URLs in a PR 'BDD Proof' comment. A standalone Worker serves images under screenshots.paysdoc.nl and GCs empty buckets.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343400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A2A2A"/>
                </a:solidFill>
                <a:latin typeface="Helvetica"/>
              </a:rPr>
              <a:t>AS-IS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663440"/>
            <a:ext cx="3703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670"/>
                </a:solidFill>
                <a:latin typeface="Helvetica"/>
              </a:rPr>
              <a:t>Worker hardcodes OWNER='paysdoc' while uploads are owner-parameterized; dead screenshotUrls placeholders in the review path.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Helvetica"/>
              </a:rPr>
              <a:t>Solid red → this subsystem calls out · Dashed teal → called by · spec: rewrite/15-*.md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5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"/>
              </a:rPr>
              <a:t>16. Supply-chain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0E6EE"/>
                </a:solidFill>
                <a:latin typeface="Helvetica"/>
              </a:rPr>
              <a:t>Layer 3 — Pipeline &amp; content</a:t>
            </a:r>
          </a:p>
        </p:txBody>
      </p:sp>
      <p:pic>
        <p:nvPicPr>
          <p:cNvPr id="5" name="Picture 4" descr="detail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95606"/>
            <a:ext cx="7406640" cy="181542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63840" y="1234440"/>
            <a:ext cx="4069080" cy="4937760"/>
          </a:xfrm>
          <a:prstGeom prst="rect">
            <a:avLst/>
          </a:prstGeom>
          <a:solidFill>
            <a:srgbClr val="F4F4F6"/>
          </a:solidFill>
          <a:ln>
            <a:solidFill>
              <a:srgbClr val="DD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371600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14D8A"/>
                </a:solidFill>
                <a:latin typeface="Helvetica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691640"/>
            <a:ext cx="37033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A"/>
                </a:solidFill>
                <a:latin typeface="Helvetica"/>
              </a:rPr>
              <a:t>Integration with the external depaudit gate: run `depaudit setup` during target onboarding and propagate SOCKET_API_TOKEN / SLACK_WEBHOOK_URL to the target's GitHub Actions secrets. Ships the depaudit-triage Claude skill for reviewing findings.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343400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A2A2A"/>
                </a:solidFill>
                <a:latin typeface="Helvetica"/>
              </a:rPr>
              <a:t>AS-IS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663440"/>
            <a:ext cx="3703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670"/>
                </a:solidFill>
                <a:latin typeface="Helvetica"/>
              </a:rPr>
              <a:t>executeDepauditSetup is defined, tested, and gh-guard-allowlisted but NOT invoked by any orchestrator — the adw_init wiring is absent.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Helvetica"/>
              </a:rPr>
              <a:t>Solid red → this subsystem calls out · Dashed teal → called by · spec: rewrite/16-*.md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"/>
              </a:rPr>
              <a:t>9. Coordination kernel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0E6EE"/>
                </a:solidFill>
                <a:latin typeface="Helvetica"/>
              </a:rPr>
              <a:t>Layer 4 — Coordination &amp; governance</a:t>
            </a:r>
          </a:p>
        </p:txBody>
      </p:sp>
      <p:pic>
        <p:nvPicPr>
          <p:cNvPr id="5" name="Picture 4" descr="detail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889083"/>
            <a:ext cx="7406639" cy="162847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63840" y="1234440"/>
            <a:ext cx="4069080" cy="4937760"/>
          </a:xfrm>
          <a:prstGeom prst="rect">
            <a:avLst/>
          </a:prstGeom>
          <a:solidFill>
            <a:srgbClr val="F4F4F6"/>
          </a:solidFill>
          <a:ln>
            <a:solidFill>
              <a:srgbClr val="DD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371600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14D8A"/>
                </a:solidFill>
                <a:latin typeface="Helvetica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691640"/>
            <a:ext cx="37033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A"/>
                </a:solidFill>
                <a:latin typeface="Helvetica"/>
              </a:rPr>
              <a:t>Single-host coordination &amp; recovery: per-issue spawn lock, PID+start-time liveness, heartbeat, hung-orchestrator detector, stage classifier, resume policy, remote reconcile, takeover handler, worktree reset/probe/reuse. The anti-split-brain layer.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343400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A2A2A"/>
                </a:solidFill>
                <a:latin typeface="Helvetica"/>
              </a:rPr>
              <a:t>AS-IS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663440"/>
            <a:ext cx="3703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670"/>
                </a:solidFill>
                <a:latin typeface="Helvetica"/>
              </a:rPr>
              <a:t>Lock release on crash relies on next-caller staleness reclaim; stage routing split across stageClassifier + inline string checks.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Helvetica"/>
              </a:rPr>
              <a:t>Solid red → this subsystem calls out · Dashed teal → called by · spec: rewrite/09-*.md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"/>
              </a:rPr>
              <a:t>11. Auto-merge / HITL +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0E6EE"/>
                </a:solidFill>
                <a:latin typeface="Helvetica"/>
              </a:rPr>
              <a:t>Layer 4 — Coordination &amp; governance</a:t>
            </a:r>
          </a:p>
        </p:txBody>
      </p:sp>
      <p:pic>
        <p:nvPicPr>
          <p:cNvPr id="5" name="Picture 4" descr="detail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06290"/>
            <a:ext cx="7406640" cy="219405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63840" y="1234440"/>
            <a:ext cx="4069080" cy="4937760"/>
          </a:xfrm>
          <a:prstGeom prst="rect">
            <a:avLst/>
          </a:prstGeom>
          <a:solidFill>
            <a:srgbClr val="F4F4F6"/>
          </a:solidFill>
          <a:ln>
            <a:solidFill>
              <a:srgbClr val="DD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371600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14D8A"/>
                </a:solidFill>
                <a:latin typeface="Helvetica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691640"/>
            <a:ext cx="37033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A"/>
                </a:solidFill>
                <a:latin typeface="Helvetica"/>
              </a:rPr>
              <a:t>Governance + pause/resume: the stateless auto-merge gate (no hitl) OR (PR approved), a conflict-resolving merge orchestrator, durable pause queues for rate-limit/billing, a host-wide auth gate with Slack alerting, and a dev-server janitor.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343400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A2A2A"/>
                </a:solidFill>
                <a:latin typeface="Helvetica"/>
              </a:rPr>
              <a:t>AS-IS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663440"/>
            <a:ext cx="3703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670"/>
                </a:solidFill>
                <a:latin typeface="Helvetica"/>
              </a:rPr>
              <a:t>Two near-identical pause paths (rate-limit queue file vs auth-gate state-scan); rate-limit indicator strings hard-coded in multiple files.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Helvetica"/>
              </a:rPr>
              <a:t>Solid red → this subsystem calls out · Dashed teal → called by · spec: rewrite/11-*.md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A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"/>
              </a:rPr>
              <a:t>12. Framework self-upgrade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0E6EE"/>
                </a:solidFill>
                <a:latin typeface="Helvetica"/>
              </a:rPr>
              <a:t>Layer 4 — Coordination &amp; governance</a:t>
            </a:r>
          </a:p>
        </p:txBody>
      </p:sp>
      <p:pic>
        <p:nvPicPr>
          <p:cNvPr id="5" name="Picture 4" descr="detail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864702"/>
            <a:ext cx="7406640" cy="16772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63840" y="1234440"/>
            <a:ext cx="4069080" cy="4937760"/>
          </a:xfrm>
          <a:prstGeom prst="rect">
            <a:avLst/>
          </a:prstGeom>
          <a:solidFill>
            <a:srgbClr val="F4F4F6"/>
          </a:solidFill>
          <a:ln>
            <a:solidFill>
              <a:srgbClr val="DD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371600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14D8A"/>
                </a:solidFill>
                <a:latin typeface="Helvetica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691640"/>
            <a:ext cx="37033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A"/>
                </a:solidFill>
                <a:latin typeface="Helvetica"/>
              </a:rPr>
              <a:t>Hash-driven self-upgrade + bootstrap: a content hash over /adw_init inputs vs each target's .adw-version; on drift an atomic branch-namespace claim elects one winner to regenerate .adw/ and open an (optionally HITL-gated) PR. Same flow handles first-time bootstrap.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343400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A2A2A"/>
                </a:solidFill>
                <a:latin typeface="Helvetica"/>
              </a:rPr>
              <a:t>AS-IS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663440"/>
            <a:ext cx="3703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670"/>
                </a:solidFill>
                <a:latin typeface="Helvetica"/>
              </a:rPr>
              <a:t>Hash recomputed at gate and again at regen (TOCTOU window); verifyAdwRegen checks presence, not content validity.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Helvetica"/>
              </a:rPr>
              <a:t>Solid red → this subsystem calls out · Dashed teal → called by · spec: rewrite/12-*.md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14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"/>
              </a:rPr>
              <a:t>10. Triggers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0E6EE"/>
                </a:solidFill>
                <a:latin typeface="Helvetica"/>
              </a:rPr>
              <a:t>Layer 5 — Entry points</a:t>
            </a:r>
          </a:p>
        </p:txBody>
      </p:sp>
      <p:pic>
        <p:nvPicPr>
          <p:cNvPr id="5" name="Picture 4" descr="detail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11" y="1188720"/>
            <a:ext cx="6648657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63840" y="1234440"/>
            <a:ext cx="4069080" cy="4937760"/>
          </a:xfrm>
          <a:prstGeom prst="rect">
            <a:avLst/>
          </a:prstGeom>
          <a:solidFill>
            <a:srgbClr val="F4F4F6"/>
          </a:solidFill>
          <a:ln>
            <a:solidFill>
              <a:srgbClr val="DD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371600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14D8A"/>
                </a:solidFill>
                <a:latin typeface="Helvetica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691640"/>
            <a:ext cx="37033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A"/>
                </a:solidFill>
                <a:latin typeface="Helvetica"/>
              </a:rPr>
              <a:t>Two automation entry points: a 20s cron backlog sweeper and an HMAC-validated webhook server. Both resolve issue eligibility, run the takeover decision, and dispatch detached orchestrator processes — delegating all coordination primitives to subsystem 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343400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A2A2A"/>
                </a:solidFill>
                <a:latin typeface="Helvetica"/>
              </a:rPr>
              <a:t>AS-IS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663440"/>
            <a:ext cx="3703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670"/>
                </a:solidFill>
                <a:latin typeface="Helvetica"/>
              </a:rPr>
              <a:t>Takeover invoked from two paths with duplicated branch handling; dedup split across in-memory maps + on-disk locks.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Helvetica"/>
              </a:rPr>
              <a:t>Solid red → this subsystem calls out · Dashed teal → called by · spec: rewrite/10-*.md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